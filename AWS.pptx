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7" r:id="rId23"/>
    <p:sldId id="279" r:id="rId24"/>
    <p:sldId id="280" r:id="rId25"/>
    <p:sldId id="278" r:id="rId26"/>
    <p:sldId id="281" r:id="rId27"/>
    <p:sldId id="282" r:id="rId28"/>
    <p:sldId id="283"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AWS  - ML INTRODUCTION</a:t>
            </a:r>
            <a:endParaRPr lang="en-US"/>
          </a:p>
        </p:txBody>
      </p:sp>
      <p:sp>
        <p:nvSpPr>
          <p:cNvPr id="3" name="Subtitle 2"/>
          <p:cNvSpPr>
            <a:spLocks noGrp="1"/>
          </p:cNvSpPr>
          <p:nvPr>
            <p:ph type="subTitle" idx="1"/>
          </p:nvPr>
        </p:nvSpPr>
        <p:spPr/>
        <p:txBody>
          <a:bodyPr/>
          <a:p>
            <a:r>
              <a:rPr lang="en-US"/>
              <a:t>Vraj Suratwala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Trends in Cloud Computing</a:t>
            </a:r>
            <a:endParaRPr lang="en-US"/>
          </a:p>
        </p:txBody>
      </p:sp>
      <p:sp>
        <p:nvSpPr>
          <p:cNvPr id="3" name="Content Placeholder 2"/>
          <p:cNvSpPr>
            <a:spLocks noGrp="1"/>
          </p:cNvSpPr>
          <p:nvPr>
            <p:ph idx="1"/>
          </p:nvPr>
        </p:nvSpPr>
        <p:spPr/>
        <p:txBody>
          <a:bodyPr/>
          <a:p>
            <a:r>
              <a:rPr lang="en-US" altLang="en-US"/>
              <a:t>Introduction</a:t>
            </a:r>
            <a:endParaRPr lang="en-US" altLang="en-US"/>
          </a:p>
          <a:p>
            <a:r>
              <a:rPr lang="en-US" altLang="en-US"/>
              <a:t>Cloud computing is always changing, and AWS is always innovating. AWS is regularly introducing new services and features and making improvements, such as lower costs, more granular billing options, higher quotas, new Regions, and faster performance. </a:t>
            </a:r>
            <a:endParaRPr lang="en-US" altLang="en-US"/>
          </a:p>
          <a:p>
            <a:r>
              <a:rPr lang="en-US" altLang="en-US"/>
              <a:t>Because of these changes, it is vital to stay up to date on what is happening.</a:t>
            </a: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Latest Advancement</a:t>
            </a:r>
            <a:endParaRPr lang="en-US"/>
          </a:p>
        </p:txBody>
      </p:sp>
      <p:sp>
        <p:nvSpPr>
          <p:cNvPr id="3" name="Content Placeholder 2"/>
          <p:cNvSpPr>
            <a:spLocks noGrp="1"/>
          </p:cNvSpPr>
          <p:nvPr>
            <p:ph idx="1"/>
          </p:nvPr>
        </p:nvSpPr>
        <p:spPr/>
        <p:txBody>
          <a:bodyPr/>
          <a:p>
            <a:r>
              <a:rPr lang="en-US" altLang="en-US"/>
              <a:t>Generative AI is changing the way that organizations do work. AWS has infrastructure, tools, and applications to help customers use generative AI in their business. Here are some of the generative AI services that AWS has announced:</a:t>
            </a:r>
            <a:endParaRPr lang="en-US" altLang="en-US"/>
          </a:p>
          <a:p>
            <a:r>
              <a:rPr lang="en-US" altLang="en-US"/>
              <a:t>Amazon Bedrock</a:t>
            </a:r>
            <a:endParaRPr lang="en-US" altLang="en-US"/>
          </a:p>
          <a:p>
            <a:r>
              <a:rPr lang="en-US" altLang="en-US"/>
              <a:t>Amazom Q</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Amazon Bedrock</a:t>
            </a:r>
            <a:endParaRPr lang="en-US"/>
          </a:p>
        </p:txBody>
      </p:sp>
      <p:sp>
        <p:nvSpPr>
          <p:cNvPr id="3" name="Content Placeholder 2"/>
          <p:cNvSpPr>
            <a:spLocks noGrp="1"/>
          </p:cNvSpPr>
          <p:nvPr>
            <p:ph idx="1"/>
          </p:nvPr>
        </p:nvSpPr>
        <p:spPr/>
        <p:txBody>
          <a:bodyPr/>
          <a:p>
            <a:r>
              <a:rPr lang="en-US" altLang="en-US"/>
              <a:t>Amazon Bedrock is a fully managed service that offers a choice of high-performing foundation models (FMs) along with a broad set of capabilities that you need to build generative AI applications. </a:t>
            </a:r>
            <a:endParaRPr lang="en-US" altLang="en-US"/>
          </a:p>
          <a:p>
            <a:r>
              <a:rPr lang="en-US" altLang="en-US"/>
              <a:t>Amazon Bedrock simplifies development with security, privacy, and responsible AI.</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Amazon Q</a:t>
            </a:r>
            <a:endParaRPr lang="en-US"/>
          </a:p>
        </p:txBody>
      </p:sp>
      <p:sp>
        <p:nvSpPr>
          <p:cNvPr id="3" name="Content Placeholder 2"/>
          <p:cNvSpPr>
            <a:spLocks noGrp="1"/>
          </p:cNvSpPr>
          <p:nvPr>
            <p:ph idx="1"/>
          </p:nvPr>
        </p:nvSpPr>
        <p:spPr/>
        <p:txBody>
          <a:bodyPr/>
          <a:p>
            <a:r>
              <a:rPr lang="en-US" altLang="en-US"/>
              <a:t>  Amazon Q is a generative AI-powered assistant for work that is designed to be secure and private by default. Amazon Q is integrated into many AWS products. Two of the primary Amazon Q products are the following:</a:t>
            </a:r>
            <a:endParaRPr lang="en-US" altLang="en-US"/>
          </a:p>
          <a:p>
            <a:r>
              <a:rPr lang="en-US" altLang="en-US"/>
              <a:t>1. Amazon Q Business</a:t>
            </a:r>
            <a:endParaRPr lang="en-US" altLang="en-US"/>
          </a:p>
          <a:p>
            <a:r>
              <a:rPr lang="en-US" altLang="en-US"/>
              <a:t>2. Amazon Q Developer</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 Amazon Q Business</a:t>
            </a:r>
            <a:endParaRPr lang="en-US"/>
          </a:p>
        </p:txBody>
      </p:sp>
      <p:sp>
        <p:nvSpPr>
          <p:cNvPr id="3" name="Content Placeholder 2"/>
          <p:cNvSpPr>
            <a:spLocks noGrp="1"/>
          </p:cNvSpPr>
          <p:nvPr>
            <p:ph idx="1"/>
          </p:nvPr>
        </p:nvSpPr>
        <p:spPr/>
        <p:txBody>
          <a:bodyPr/>
          <a:p>
            <a:r>
              <a:rPr lang="en-US"/>
              <a:t>It </a:t>
            </a:r>
            <a:r>
              <a:rPr lang="en-US" altLang="en-US"/>
              <a:t>is a generative AI-powered assistant that can answer questions, provide summaries, generate content, and securely complete tasks. You can tailor Amazon Q Business to do any of those tasks based on data and information in your enterprise systems. </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ii) Amazon Q Developer</a:t>
            </a:r>
            <a:endParaRPr lang="en-US"/>
          </a:p>
        </p:txBody>
      </p:sp>
      <p:sp>
        <p:nvSpPr>
          <p:cNvPr id="3" name="Content Placeholder 2"/>
          <p:cNvSpPr>
            <a:spLocks noGrp="1"/>
          </p:cNvSpPr>
          <p:nvPr>
            <p:ph idx="1"/>
          </p:nvPr>
        </p:nvSpPr>
        <p:spPr/>
        <p:txBody>
          <a:bodyPr>
            <a:normAutofit lnSpcReduction="10000"/>
          </a:bodyPr>
          <a:p>
            <a:r>
              <a:rPr lang="en-US"/>
              <a:t>It </a:t>
            </a:r>
            <a:r>
              <a:rPr lang="en-US" altLang="en-US"/>
              <a:t> is a coding assistant that can accelerate development time for developers of all skills levels and for many tasks across the software development lifecycle. </a:t>
            </a:r>
            <a:endParaRPr lang="en-US" altLang="en-US"/>
          </a:p>
          <a:p>
            <a:r>
              <a:rPr lang="en-US" altLang="en-US"/>
              <a:t>Amazon Q Developer can chat about code, provide in-line code completions, generate new code, and scan your code for security vulnerabilities. </a:t>
            </a:r>
            <a:endParaRPr lang="en-US" altLang="en-US"/>
          </a:p>
          <a:p>
            <a:r>
              <a:rPr lang="en-US" altLang="en-US"/>
              <a:t>It can also make code upgrades and improvements, such as language updates, debugging, and optimizations. </a:t>
            </a:r>
            <a:endParaRPr lang="en-US" altLang="en-US"/>
          </a:p>
          <a:p>
            <a:r>
              <a:rPr lang="en-US" altLang="en-US"/>
              <a:t>With Amazon Q Developer, you can describe the application you want to create in natural language, and Amazon Q Developer will generate and suggest code for the application.</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Where ML is Placed ?</a:t>
            </a:r>
            <a:endParaRPr lang="en-US"/>
          </a:p>
        </p:txBody>
      </p:sp>
      <p:pic>
        <p:nvPicPr>
          <p:cNvPr id="4" name="Content Placeholder 3"/>
          <p:cNvPicPr>
            <a:picLocks noChangeAspect="1"/>
          </p:cNvPicPr>
          <p:nvPr>
            <p:ph idx="1"/>
          </p:nvPr>
        </p:nvPicPr>
        <p:blipFill>
          <a:blip r:embed="rId1"/>
          <a:stretch>
            <a:fillRect/>
          </a:stretch>
        </p:blipFill>
        <p:spPr>
          <a:xfrm>
            <a:off x="2520315" y="1825625"/>
            <a:ext cx="7150735"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Definition of ML - Understanding of ML</a:t>
            </a:r>
            <a:endParaRPr lang="en-US"/>
          </a:p>
        </p:txBody>
      </p:sp>
      <p:sp>
        <p:nvSpPr>
          <p:cNvPr id="3" name="Content Placeholder 2"/>
          <p:cNvSpPr>
            <a:spLocks noGrp="1"/>
          </p:cNvSpPr>
          <p:nvPr>
            <p:ph idx="1"/>
          </p:nvPr>
        </p:nvSpPr>
        <p:spPr/>
        <p:txBody>
          <a:bodyPr/>
          <a:p>
            <a:r>
              <a:rPr lang="en-US"/>
              <a:t>ML is a Scientific study of stastical and algorithm based models which is going to perform specific task using interface rather then instruction.</a:t>
            </a:r>
            <a:endParaRPr lang="en-US"/>
          </a:p>
          <a:p>
            <a:r>
              <a:rPr lang="en-US"/>
              <a:t> </a:t>
            </a:r>
            <a:endParaRPr lang="en-US"/>
          </a:p>
        </p:txBody>
      </p:sp>
      <p:pic>
        <p:nvPicPr>
          <p:cNvPr id="4" name="Picture 3"/>
          <p:cNvPicPr>
            <a:picLocks noChangeAspect="1"/>
          </p:cNvPicPr>
          <p:nvPr/>
        </p:nvPicPr>
        <p:blipFill>
          <a:blip r:embed="rId1"/>
          <a:stretch>
            <a:fillRect/>
          </a:stretch>
        </p:blipFill>
        <p:spPr>
          <a:xfrm>
            <a:off x="3661410" y="3656330"/>
            <a:ext cx="4752975" cy="1628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DL - Deep Learning  - Process</a:t>
            </a:r>
            <a:endParaRPr lang="en-US"/>
          </a:p>
        </p:txBody>
      </p:sp>
      <p:pic>
        <p:nvPicPr>
          <p:cNvPr id="4" name="Content Placeholder 3"/>
          <p:cNvPicPr>
            <a:picLocks noChangeAspect="1"/>
          </p:cNvPicPr>
          <p:nvPr>
            <p:ph idx="1"/>
          </p:nvPr>
        </p:nvPicPr>
        <p:blipFill>
          <a:blip r:embed="rId1"/>
          <a:stretch>
            <a:fillRect/>
          </a:stretch>
        </p:blipFill>
        <p:spPr>
          <a:xfrm>
            <a:off x="2252345" y="2029460"/>
            <a:ext cx="7686675" cy="39433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GAN AI - Generative AI</a:t>
            </a:r>
            <a:endParaRPr lang="en-US"/>
          </a:p>
        </p:txBody>
      </p:sp>
      <p:pic>
        <p:nvPicPr>
          <p:cNvPr id="4" name="Content Placeholder 3"/>
          <p:cNvPicPr>
            <a:picLocks noChangeAspect="1"/>
          </p:cNvPicPr>
          <p:nvPr>
            <p:ph idx="1"/>
          </p:nvPr>
        </p:nvPicPr>
        <p:blipFill>
          <a:blip r:embed="rId1"/>
          <a:stretch>
            <a:fillRect/>
          </a:stretch>
        </p:blipFill>
        <p:spPr>
          <a:xfrm>
            <a:off x="2226945" y="1825625"/>
            <a:ext cx="7736840"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Summary till here</a:t>
            </a:r>
            <a:endParaRPr lang="en-US"/>
          </a:p>
        </p:txBody>
      </p:sp>
      <p:pic>
        <p:nvPicPr>
          <p:cNvPr id="4" name="Content Placeholder 3"/>
          <p:cNvPicPr>
            <a:picLocks noChangeAspect="1"/>
          </p:cNvPicPr>
          <p:nvPr>
            <p:ph idx="1"/>
          </p:nvPr>
        </p:nvPicPr>
        <p:blipFill>
          <a:blip r:embed="rId1"/>
          <a:stretch>
            <a:fillRect/>
          </a:stretch>
        </p:blipFill>
        <p:spPr>
          <a:xfrm>
            <a:off x="2202815" y="1825625"/>
            <a:ext cx="7785100" cy="43516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Business Probelms that can be solved by ML</a:t>
            </a:r>
            <a:endParaRPr lang="en-US"/>
          </a:p>
        </p:txBody>
      </p:sp>
      <p:pic>
        <p:nvPicPr>
          <p:cNvPr id="4" name="Content Placeholder 3"/>
          <p:cNvPicPr>
            <a:picLocks noChangeAspect="1"/>
          </p:cNvPicPr>
          <p:nvPr>
            <p:ph idx="1"/>
          </p:nvPr>
        </p:nvPicPr>
        <p:blipFill>
          <a:blip r:embed="rId1"/>
          <a:stretch>
            <a:fillRect/>
          </a:stretch>
        </p:blipFill>
        <p:spPr>
          <a:xfrm>
            <a:off x="2166620" y="1858645"/>
            <a:ext cx="7858125" cy="2876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ML</a:t>
            </a:r>
            <a:endParaRPr lang="en-US"/>
          </a:p>
        </p:txBody>
      </p:sp>
      <p:pic>
        <p:nvPicPr>
          <p:cNvPr id="4" name="Content Placeholder 3"/>
          <p:cNvPicPr>
            <a:picLocks noChangeAspect="1"/>
          </p:cNvPicPr>
          <p:nvPr>
            <p:ph idx="1"/>
          </p:nvPr>
        </p:nvPicPr>
        <p:blipFill>
          <a:blip r:embed="rId1"/>
          <a:stretch>
            <a:fillRect/>
          </a:stretch>
        </p:blipFill>
        <p:spPr>
          <a:xfrm>
            <a:off x="2547620" y="1908810"/>
            <a:ext cx="7096125" cy="31813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Supervised Learning</a:t>
            </a:r>
            <a:endParaRPr lang="en-US"/>
          </a:p>
        </p:txBody>
      </p:sp>
      <p:sp>
        <p:nvSpPr>
          <p:cNvPr id="3" name="Content Placeholder 2"/>
          <p:cNvSpPr>
            <a:spLocks noGrp="1"/>
          </p:cNvSpPr>
          <p:nvPr>
            <p:ph idx="1"/>
          </p:nvPr>
        </p:nvSpPr>
        <p:spPr/>
        <p:txBody>
          <a:bodyPr/>
          <a:p>
            <a:r>
              <a:rPr lang="en-US"/>
              <a:t>working for labeled data. (which is refers to input and output both for training).</a:t>
            </a:r>
            <a:endParaRPr lang="en-US"/>
          </a:p>
          <a:p>
            <a:r>
              <a:rPr lang="en-US"/>
              <a:t>two types for the Supervised Learning.</a:t>
            </a:r>
            <a:endParaRPr lang="en-US"/>
          </a:p>
          <a:p>
            <a:r>
              <a:rPr lang="en-US"/>
              <a:t>1. Regression - works for numerical data</a:t>
            </a:r>
            <a:endParaRPr lang="en-US"/>
          </a:p>
          <a:p>
            <a:pPr lvl="1"/>
            <a:r>
              <a:rPr lang="en-US" sz="2400"/>
              <a:t>Example : Image Recognition</a:t>
            </a:r>
            <a:endParaRPr lang="en-US"/>
          </a:p>
          <a:p>
            <a:r>
              <a:rPr lang="en-US"/>
              <a:t>2. Classification - works for categorial data.</a:t>
            </a:r>
            <a:endParaRPr lang="en-US"/>
          </a:p>
          <a:p>
            <a:pPr lvl="1"/>
            <a:r>
              <a:rPr lang="en-US"/>
              <a:t>Example : Market Forcasting</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UnSupervised ML</a:t>
            </a:r>
            <a:endParaRPr lang="en-US"/>
          </a:p>
        </p:txBody>
      </p:sp>
      <p:sp>
        <p:nvSpPr>
          <p:cNvPr id="3" name="Content Placeholder 2"/>
          <p:cNvSpPr>
            <a:spLocks noGrp="1"/>
          </p:cNvSpPr>
          <p:nvPr>
            <p:ph idx="1"/>
          </p:nvPr>
        </p:nvSpPr>
        <p:spPr/>
        <p:txBody>
          <a:bodyPr/>
          <a:p>
            <a:r>
              <a:rPr lang="en-US"/>
              <a:t>without labels.</a:t>
            </a:r>
            <a:endParaRPr lang="en-US"/>
          </a:p>
          <a:p>
            <a:r>
              <a:rPr lang="en-US"/>
              <a:t>Common Methods of Unsupervised ML.</a:t>
            </a:r>
            <a:endParaRPr lang="en-US"/>
          </a:p>
          <a:p>
            <a:pPr lvl="1"/>
            <a:r>
              <a:rPr lang="en-US"/>
              <a:t>Clustering </a:t>
            </a:r>
            <a:endParaRPr lang="en-US"/>
          </a:p>
          <a:p>
            <a:pPr lvl="2"/>
            <a:r>
              <a:rPr lang="en-US" sz="2000"/>
              <a:t>Product recommandations</a:t>
            </a:r>
            <a:endParaRPr lang="en-US"/>
          </a:p>
          <a:p>
            <a:pPr lvl="1"/>
            <a:r>
              <a:rPr lang="en-US"/>
              <a:t>Dimensional Reduction</a:t>
            </a:r>
            <a:endParaRPr lang="en-US"/>
          </a:p>
          <a:p>
            <a:pPr lvl="2"/>
            <a:r>
              <a:rPr lang="en-US"/>
              <a:t>Visulaization</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Reinforcement Learning</a:t>
            </a:r>
            <a:endParaRPr lang="en-US"/>
          </a:p>
        </p:txBody>
      </p:sp>
      <p:pic>
        <p:nvPicPr>
          <p:cNvPr id="4" name="Content Placeholder 3"/>
          <p:cNvPicPr>
            <a:picLocks noChangeAspect="1"/>
          </p:cNvPicPr>
          <p:nvPr>
            <p:ph idx="1"/>
          </p:nvPr>
        </p:nvPicPr>
        <p:blipFill>
          <a:blip r:embed="rId1"/>
          <a:stretch>
            <a:fillRect/>
          </a:stretch>
        </p:blipFill>
        <p:spPr>
          <a:xfrm>
            <a:off x="1002665" y="1647825"/>
            <a:ext cx="8857615" cy="41306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Computer Vision</a:t>
            </a:r>
            <a:endParaRPr lang="en-US"/>
          </a:p>
        </p:txBody>
      </p:sp>
      <p:pic>
        <p:nvPicPr>
          <p:cNvPr id="4" name="Content Placeholder 3"/>
          <p:cNvPicPr>
            <a:picLocks noChangeAspect="1"/>
          </p:cNvPicPr>
          <p:nvPr>
            <p:ph idx="1"/>
          </p:nvPr>
        </p:nvPicPr>
        <p:blipFill>
          <a:blip r:embed="rId1"/>
          <a:stretch>
            <a:fillRect/>
          </a:stretch>
        </p:blipFill>
        <p:spPr>
          <a:xfrm>
            <a:off x="2157095" y="1886585"/>
            <a:ext cx="7877175" cy="4229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Traditional vs ML Programming</a:t>
            </a:r>
            <a:endParaRPr lang="en-US"/>
          </a:p>
        </p:txBody>
      </p:sp>
      <p:pic>
        <p:nvPicPr>
          <p:cNvPr id="4" name="Content Placeholder 3"/>
          <p:cNvPicPr>
            <a:picLocks noChangeAspect="1"/>
          </p:cNvPicPr>
          <p:nvPr>
            <p:ph idx="1"/>
          </p:nvPr>
        </p:nvPicPr>
        <p:blipFill>
          <a:blip r:embed="rId1"/>
          <a:stretch>
            <a:fillRect/>
          </a:stretch>
        </p:blipFill>
        <p:spPr>
          <a:xfrm>
            <a:off x="1095375" y="1691005"/>
            <a:ext cx="9025890" cy="4054475"/>
          </a:xfrm>
          <a:prstGeom prst="rect">
            <a:avLst/>
          </a:prstGeom>
        </p:spPr>
      </p:pic>
      <p:pic>
        <p:nvPicPr>
          <p:cNvPr id="5" name="Content Placeholder 3"/>
          <p:cNvPicPr>
            <a:picLocks noChangeAspect="1"/>
          </p:cNvPicPr>
          <p:nvPr/>
        </p:nvPicPr>
        <p:blipFill>
          <a:blip r:embed="rId2"/>
          <a:stretch>
            <a:fillRect/>
          </a:stretch>
        </p:blipFill>
        <p:spPr>
          <a:xfrm>
            <a:off x="9312275" y="4466590"/>
            <a:ext cx="2708910" cy="2277110"/>
          </a:xfrm>
          <a:prstGeom prst="rect">
            <a:avLst/>
          </a:prstGeom>
        </p:spPr>
      </p:pic>
      <p:sp>
        <p:nvSpPr>
          <p:cNvPr id="6" name="Text Box 5"/>
          <p:cNvSpPr txBox="1"/>
          <p:nvPr/>
        </p:nvSpPr>
        <p:spPr>
          <a:xfrm>
            <a:off x="9221470" y="3977640"/>
            <a:ext cx="2731135" cy="368300"/>
          </a:xfrm>
          <a:prstGeom prst="rect">
            <a:avLst/>
          </a:prstGeom>
          <a:noFill/>
        </p:spPr>
        <p:txBody>
          <a:bodyPr wrap="square" rtlCol="0" anchor="t">
            <a:spAutoFit/>
          </a:bodyPr>
          <a:p>
            <a:r>
              <a:rPr lang="en-US">
                <a:sym typeface="+mn-ea"/>
              </a:rPr>
              <a:t>Summary till here</a:t>
            </a:r>
            <a:endParaRPr lang="en-U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ML Process</a:t>
            </a:r>
            <a:endParaRPr lang="en-US"/>
          </a:p>
        </p:txBody>
      </p:sp>
      <p:pic>
        <p:nvPicPr>
          <p:cNvPr id="6" name="Content Placeholder 5"/>
          <p:cNvPicPr>
            <a:picLocks noChangeAspect="1"/>
          </p:cNvPicPr>
          <p:nvPr>
            <p:ph idx="1"/>
          </p:nvPr>
        </p:nvPicPr>
        <p:blipFill>
          <a:blip r:embed="rId1"/>
          <a:srcRect l="1707"/>
          <a:stretch>
            <a:fillRect/>
          </a:stretch>
        </p:blipFill>
        <p:spPr>
          <a:xfrm>
            <a:off x="1030605" y="1574800"/>
            <a:ext cx="10130155" cy="43516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230630" y="481330"/>
            <a:ext cx="9730740" cy="5518150"/>
          </a:xfrm>
          <a:prstGeom prst="rect">
            <a:avLst/>
          </a:prstGeom>
        </p:spPr>
      </p:pic>
      <p:pic>
        <p:nvPicPr>
          <p:cNvPr id="5" name="Picture 4"/>
          <p:cNvPicPr>
            <a:picLocks noChangeAspect="1"/>
          </p:cNvPicPr>
          <p:nvPr/>
        </p:nvPicPr>
        <p:blipFill>
          <a:blip r:embed="rId2"/>
          <a:stretch>
            <a:fillRect/>
          </a:stretch>
        </p:blipFill>
        <p:spPr>
          <a:xfrm>
            <a:off x="9097645" y="5115560"/>
            <a:ext cx="3094355" cy="16802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ML Services by AWS</a:t>
            </a:r>
            <a:endParaRPr lang="en-US"/>
          </a:p>
        </p:txBody>
      </p:sp>
      <p:pic>
        <p:nvPicPr>
          <p:cNvPr id="4" name="Content Placeholder 3"/>
          <p:cNvPicPr>
            <a:picLocks noChangeAspect="1"/>
          </p:cNvPicPr>
          <p:nvPr>
            <p:ph idx="1"/>
          </p:nvPr>
        </p:nvPicPr>
        <p:blipFill>
          <a:blip r:embed="rId1"/>
          <a:stretch>
            <a:fillRect/>
          </a:stretch>
        </p:blipFill>
        <p:spPr>
          <a:xfrm>
            <a:off x="2128520" y="2143760"/>
            <a:ext cx="7934325" cy="3714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Storing Data in an AWS</a:t>
            </a:r>
            <a:endParaRPr lang="en-US"/>
          </a:p>
        </p:txBody>
      </p:sp>
      <p:pic>
        <p:nvPicPr>
          <p:cNvPr id="4" name="Content Placeholder 3"/>
          <p:cNvPicPr>
            <a:picLocks noChangeAspect="1"/>
          </p:cNvPicPr>
          <p:nvPr>
            <p:ph idx="1"/>
          </p:nvPr>
        </p:nvPicPr>
        <p:blipFill>
          <a:blip r:embed="rId1"/>
          <a:stretch>
            <a:fillRect/>
          </a:stretch>
        </p:blipFill>
        <p:spPr>
          <a:xfrm>
            <a:off x="2275840" y="1825625"/>
            <a:ext cx="7639685" cy="43516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Storage Processing in AWS with Glue</a:t>
            </a:r>
            <a:endParaRPr lang="en-US"/>
          </a:p>
        </p:txBody>
      </p:sp>
      <p:pic>
        <p:nvPicPr>
          <p:cNvPr id="4" name="Content Placeholder 3"/>
          <p:cNvPicPr>
            <a:picLocks noChangeAspect="1"/>
          </p:cNvPicPr>
          <p:nvPr>
            <p:ph idx="1"/>
          </p:nvPr>
        </p:nvPicPr>
        <p:blipFill>
          <a:blip r:embed="rId1"/>
          <a:stretch>
            <a:fillRect/>
          </a:stretch>
        </p:blipFill>
        <p:spPr>
          <a:xfrm>
            <a:off x="1161415" y="1825625"/>
            <a:ext cx="9868535" cy="4351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Storage Processing in AWS with Glue</a:t>
            </a:r>
            <a:endParaRPr lang="en-US"/>
          </a:p>
        </p:txBody>
      </p:sp>
      <p:pic>
        <p:nvPicPr>
          <p:cNvPr id="4" name="Content Placeholder 3"/>
          <p:cNvPicPr>
            <a:picLocks noChangeAspect="1"/>
          </p:cNvPicPr>
          <p:nvPr>
            <p:ph idx="1"/>
          </p:nvPr>
        </p:nvPicPr>
        <p:blipFill>
          <a:blip r:embed="rId1"/>
          <a:stretch>
            <a:fillRect/>
          </a:stretch>
        </p:blipFill>
        <p:spPr>
          <a:xfrm>
            <a:off x="838200" y="1836420"/>
            <a:ext cx="10515600" cy="43294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Storage Processing in AWS with Glue</a:t>
            </a:r>
            <a:endParaRPr lang="en-US"/>
          </a:p>
        </p:txBody>
      </p:sp>
      <p:pic>
        <p:nvPicPr>
          <p:cNvPr id="4" name="Content Placeholder 3"/>
          <p:cNvPicPr>
            <a:picLocks noChangeAspect="1"/>
          </p:cNvPicPr>
          <p:nvPr>
            <p:ph idx="1"/>
          </p:nvPr>
        </p:nvPicPr>
        <p:blipFill>
          <a:blip r:embed="rId1"/>
          <a:stretch>
            <a:fillRect/>
          </a:stretch>
        </p:blipFill>
        <p:spPr>
          <a:xfrm>
            <a:off x="1264920" y="1825625"/>
            <a:ext cx="9660890" cy="43516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ETL with Python</a:t>
            </a:r>
            <a:endParaRPr lang="en-US"/>
          </a:p>
        </p:txBody>
      </p:sp>
      <p:pic>
        <p:nvPicPr>
          <p:cNvPr id="4" name="Content Placeholder 3"/>
          <p:cNvPicPr>
            <a:picLocks noChangeAspect="1"/>
          </p:cNvPicPr>
          <p:nvPr>
            <p:ph idx="1"/>
          </p:nvPr>
        </p:nvPicPr>
        <p:blipFill>
          <a:blip r:embed="rId1"/>
          <a:stretch>
            <a:fillRect/>
          </a:stretch>
        </p:blipFill>
        <p:spPr>
          <a:xfrm>
            <a:off x="1259840" y="1825625"/>
            <a:ext cx="9671050" cy="43516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Feature Extraction vs Selection</a:t>
            </a:r>
            <a:endParaRPr lang="en-US"/>
          </a:p>
        </p:txBody>
      </p:sp>
      <p:sp>
        <p:nvSpPr>
          <p:cNvPr id="5" name="Text Placeholder 4"/>
          <p:cNvSpPr>
            <a:spLocks noGrp="1"/>
          </p:cNvSpPr>
          <p:nvPr>
            <p:ph type="body" idx="1"/>
          </p:nvPr>
        </p:nvSpPr>
        <p:spPr/>
        <p:txBody>
          <a:bodyPr/>
          <a:p>
            <a:r>
              <a:rPr lang="en-US"/>
              <a:t>Difference Between Them.</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Difference Between Both</a:t>
            </a:r>
            <a:endParaRPr lang="en-US"/>
          </a:p>
        </p:txBody>
      </p:sp>
      <p:pic>
        <p:nvPicPr>
          <p:cNvPr id="4" name="Content Placeholder 3"/>
          <p:cNvPicPr>
            <a:picLocks noChangeAspect="1"/>
          </p:cNvPicPr>
          <p:nvPr>
            <p:ph idx="1"/>
          </p:nvPr>
        </p:nvPicPr>
        <p:blipFill>
          <a:blip r:embed="rId1"/>
          <a:stretch>
            <a:fillRect/>
          </a:stretch>
        </p:blipFill>
        <p:spPr>
          <a:xfrm>
            <a:off x="2085340" y="1691005"/>
            <a:ext cx="8020050" cy="41243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 Extraction Includes various activities.</a:t>
            </a:r>
            <a:endParaRPr lang="en-US"/>
          </a:p>
        </p:txBody>
      </p:sp>
      <p:pic>
        <p:nvPicPr>
          <p:cNvPr id="4" name="Content Placeholder 3"/>
          <p:cNvPicPr>
            <a:picLocks noChangeAspect="1"/>
          </p:cNvPicPr>
          <p:nvPr>
            <p:ph idx="1"/>
          </p:nvPr>
        </p:nvPicPr>
        <p:blipFill>
          <a:blip r:embed="rId1"/>
          <a:stretch>
            <a:fillRect/>
          </a:stretch>
        </p:blipFill>
        <p:spPr>
          <a:xfrm>
            <a:off x="1316355" y="1825625"/>
            <a:ext cx="9558020" cy="43516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Cleaning Data </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Data to Clean</a:t>
            </a:r>
            <a:endParaRPr lang="en-US"/>
          </a:p>
        </p:txBody>
      </p:sp>
      <p:pic>
        <p:nvPicPr>
          <p:cNvPr id="4" name="Content Placeholder 3"/>
          <p:cNvPicPr>
            <a:picLocks noChangeAspect="1"/>
          </p:cNvPicPr>
          <p:nvPr>
            <p:ph idx="1"/>
          </p:nvPr>
        </p:nvPicPr>
        <p:blipFill>
          <a:blip r:embed="rId1"/>
          <a:stretch>
            <a:fillRect/>
          </a:stretch>
        </p:blipFill>
        <p:spPr>
          <a:xfrm>
            <a:off x="2261235" y="1825625"/>
            <a:ext cx="7668260" cy="43516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Handling Missing Data</a:t>
            </a:r>
            <a:endParaRPr lang="en-US"/>
          </a:p>
        </p:txBody>
      </p:sp>
      <p:pic>
        <p:nvPicPr>
          <p:cNvPr id="4" name="Content Placeholder 3"/>
          <p:cNvPicPr>
            <a:picLocks noChangeAspect="1"/>
          </p:cNvPicPr>
          <p:nvPr>
            <p:ph idx="1"/>
          </p:nvPr>
        </p:nvPicPr>
        <p:blipFill>
          <a:blip r:embed="rId1"/>
          <a:stretch>
            <a:fillRect/>
          </a:stretch>
        </p:blipFill>
        <p:spPr>
          <a:xfrm>
            <a:off x="2188845" y="1825625"/>
            <a:ext cx="7813675" cy="43516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Missing Values analysis based on ...</a:t>
            </a:r>
            <a:endParaRPr lang="en-US"/>
          </a:p>
        </p:txBody>
      </p:sp>
      <p:pic>
        <p:nvPicPr>
          <p:cNvPr id="4" name="Content Placeholder 3"/>
          <p:cNvPicPr>
            <a:picLocks noChangeAspect="1"/>
          </p:cNvPicPr>
          <p:nvPr>
            <p:ph idx="1"/>
          </p:nvPr>
        </p:nvPicPr>
        <p:blipFill>
          <a:blip r:embed="rId1"/>
          <a:stretch>
            <a:fillRect/>
          </a:stretch>
        </p:blipFill>
        <p:spPr>
          <a:xfrm>
            <a:off x="2661920" y="2500630"/>
            <a:ext cx="6867525" cy="30003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Solution</a:t>
            </a:r>
            <a:endParaRPr lang="en-US"/>
          </a:p>
        </p:txBody>
      </p:sp>
      <p:sp>
        <p:nvSpPr>
          <p:cNvPr id="3" name="Content Placeholder 2"/>
          <p:cNvSpPr>
            <a:spLocks noGrp="1"/>
          </p:cNvSpPr>
          <p:nvPr>
            <p:ph idx="1"/>
          </p:nvPr>
        </p:nvSpPr>
        <p:spPr/>
        <p:txBody>
          <a:bodyPr/>
          <a:p>
            <a:r>
              <a:rPr lang="en-US"/>
              <a:t>1. Removing Missing Values</a:t>
            </a:r>
            <a:endParaRPr lang="en-US"/>
          </a:p>
          <a:p>
            <a:r>
              <a:rPr lang="en-US"/>
              <a:t>2. Impute Missing Values</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to Work with outliers ? </a:t>
            </a:r>
            <a:endParaRPr lang="en-US"/>
          </a:p>
        </p:txBody>
      </p:sp>
      <p:sp>
        <p:nvSpPr>
          <p:cNvPr id="3" name="Content Placeholder 2"/>
          <p:cNvSpPr>
            <a:spLocks noGrp="1"/>
          </p:cNvSpPr>
          <p:nvPr>
            <p:ph idx="1"/>
          </p:nvPr>
        </p:nvSpPr>
        <p:spPr/>
        <p:txBody>
          <a:bodyPr/>
          <a:p>
            <a:r>
              <a:rPr lang="en-US"/>
              <a:t>Types of Outliers</a:t>
            </a:r>
            <a:endParaRPr lang="en-US"/>
          </a:p>
          <a:p>
            <a:r>
              <a:rPr lang="en-US"/>
              <a:t>1.Univariate : Abnormal values for a single variables.</a:t>
            </a:r>
            <a:endParaRPr lang="en-US"/>
          </a:p>
          <a:p>
            <a:r>
              <a:rPr lang="en-US"/>
              <a:t>2. Multivariate : Abnormal values for two or more variables.</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Handling Outliers</a:t>
            </a:r>
            <a:endParaRPr lang="en-US"/>
          </a:p>
        </p:txBody>
      </p:sp>
      <p:pic>
        <p:nvPicPr>
          <p:cNvPr id="4" name="Content Placeholder 3"/>
          <p:cNvPicPr>
            <a:picLocks noChangeAspect="1"/>
          </p:cNvPicPr>
          <p:nvPr>
            <p:ph idx="1"/>
          </p:nvPr>
        </p:nvPicPr>
        <p:blipFill>
          <a:blip r:embed="rId1"/>
          <a:stretch>
            <a:fillRect/>
          </a:stretch>
        </p:blipFill>
        <p:spPr>
          <a:xfrm>
            <a:off x="1354455" y="1805305"/>
            <a:ext cx="9482455" cy="43516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Training</a:t>
            </a:r>
            <a:endParaRPr lang="en-US"/>
          </a:p>
        </p:txBody>
      </p:sp>
      <p:sp>
        <p:nvSpPr>
          <p:cNvPr id="5" name="Text Placeholder 4"/>
          <p:cNvSpPr>
            <a:spLocks noGrp="1"/>
          </p:cNvSpPr>
          <p:nvPr>
            <p:ph type="body" idx="1"/>
          </p:nvPr>
        </p:nvSpPr>
        <p:spPr/>
        <p:txBody>
          <a:bodyPr/>
          <a:p>
            <a:r>
              <a:rPr lang="en-US"/>
              <a:t>How to Train your models ?</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File Extension which are supported by ml.</a:t>
            </a:r>
            <a:endParaRPr lang="en-US"/>
          </a:p>
        </p:txBody>
      </p:sp>
      <p:pic>
        <p:nvPicPr>
          <p:cNvPr id="4" name="Content Placeholder 3"/>
          <p:cNvPicPr>
            <a:picLocks noChangeAspect="1"/>
          </p:cNvPicPr>
          <p:nvPr>
            <p:ph idx="1"/>
          </p:nvPr>
        </p:nvPicPr>
        <p:blipFill>
          <a:blip r:embed="rId1"/>
          <a:stretch>
            <a:fillRect/>
          </a:stretch>
        </p:blipFill>
        <p:spPr>
          <a:xfrm>
            <a:off x="2094865" y="1867535"/>
            <a:ext cx="8001000" cy="42672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Amazon SageMaker - ML algorithms</a:t>
            </a:r>
            <a:endParaRPr lang="en-US"/>
          </a:p>
        </p:txBody>
      </p:sp>
      <p:pic>
        <p:nvPicPr>
          <p:cNvPr id="4" name="Content Placeholder 3"/>
          <p:cNvPicPr>
            <a:picLocks noChangeAspect="1"/>
          </p:cNvPicPr>
          <p:nvPr>
            <p:ph idx="1"/>
          </p:nvPr>
        </p:nvPicPr>
        <p:blipFill>
          <a:blip r:embed="rId1"/>
          <a:stretch>
            <a:fillRect/>
          </a:stretch>
        </p:blipFill>
        <p:spPr>
          <a:xfrm>
            <a:off x="838200" y="2019935"/>
            <a:ext cx="10515600" cy="396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3658</Words>
  <Application>WPS Presentation</Application>
  <PresentationFormat>Widescreen</PresentationFormat>
  <Paragraphs>133</Paragraphs>
  <Slides>40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40</vt:i4>
      </vt:variant>
    </vt:vector>
  </HeadingPairs>
  <TitlesOfParts>
    <vt:vector size="48" baseType="lpstr">
      <vt:lpstr>Arial</vt:lpstr>
      <vt:lpstr>SimSun</vt:lpstr>
      <vt:lpstr>Wingdings</vt:lpstr>
      <vt:lpstr>Calibri Light</vt:lpstr>
      <vt:lpstr>Calibri</vt:lpstr>
      <vt:lpstr>Microsoft YaHei</vt:lpstr>
      <vt:lpstr>Arial Unicode MS</vt:lpstr>
      <vt:lpstr>Office Theme</vt:lpstr>
      <vt:lpstr>AWS  - ML INTRODUCTION</vt:lpstr>
      <vt:lpstr>Trends in Cloud Computing</vt:lpstr>
      <vt:lpstr>Latest Advancement</vt:lpstr>
      <vt:lpstr>Amazon Bedrock</vt:lpstr>
      <vt:lpstr>Amazon Q</vt:lpstr>
      <vt:lpstr>I) Amazon Q Business</vt:lpstr>
      <vt:lpstr>ii) Amazon Q Developer</vt:lpstr>
      <vt:lpstr>Where ML is Placed ?</vt:lpstr>
      <vt:lpstr>Definition of ML - Understanding of ML</vt:lpstr>
      <vt:lpstr>DL - Deep Learning  - Process</vt:lpstr>
      <vt:lpstr>GAN AI - Generative AI</vt:lpstr>
      <vt:lpstr>Summary till here</vt:lpstr>
      <vt:lpstr>Business Probelms that can be solved by ML</vt:lpstr>
      <vt:lpstr>Types of ML</vt:lpstr>
      <vt:lpstr>1. Supervised Learning</vt:lpstr>
      <vt:lpstr>2. UnSupervised ML</vt:lpstr>
      <vt:lpstr>3. Reinforcement Learning</vt:lpstr>
      <vt:lpstr>Computer Vision</vt:lpstr>
      <vt:lpstr>Traditional vs ML Programming</vt:lpstr>
      <vt:lpstr>ML Process</vt:lpstr>
      <vt:lpstr>PowerPoint 演示文稿</vt:lpstr>
      <vt:lpstr>ML Services by AWS</vt:lpstr>
      <vt:lpstr>Storing Data in an AWS</vt:lpstr>
      <vt:lpstr>Storage Processing in AWS with Glue</vt:lpstr>
      <vt:lpstr>Storage Processing in AWS with Glue</vt:lpstr>
      <vt:lpstr>Storage Processing in AWS with Glue</vt:lpstr>
      <vt:lpstr>ETL with Python</vt:lpstr>
      <vt:lpstr>Feature Extraction vs Selection</vt:lpstr>
      <vt:lpstr>Difference Between Both</vt:lpstr>
      <vt:lpstr>Feature Extraction Includes various activities.</vt:lpstr>
      <vt:lpstr>Cleaning Data </vt:lpstr>
      <vt:lpstr>Types of Data to Clean</vt:lpstr>
      <vt:lpstr>Handling Missing Data</vt:lpstr>
      <vt:lpstr>Missing Values analysis based on ...</vt:lpstr>
      <vt:lpstr>Solution</vt:lpstr>
      <vt:lpstr>How to Work with outliers ? </vt:lpstr>
      <vt:lpstr>Handling Outliers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12</cp:revision>
  <dcterms:created xsi:type="dcterms:W3CDTF">2025-07-23T00:59:00Z</dcterms:created>
  <dcterms:modified xsi:type="dcterms:W3CDTF">2026-01-05T09:28:37Z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10664CA037FC4EECAE9747D52E4D68F6_11</vt:lpwstr>
  </property>
  <property fmtid="{D5CDD505-2E9C-101B-9397-08002B2CF9AE}" pid="3" name="KSOProductBuildVer">
    <vt:lpwstr>1033-12.2.0.23155</vt:lpwstr>
  </property>
</Properties>
</file>